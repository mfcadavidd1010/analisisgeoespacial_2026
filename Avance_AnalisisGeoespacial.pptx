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77" r:id="rId4"/>
    <p:sldId id="259" r:id="rId5"/>
    <p:sldId id="278" r:id="rId6"/>
    <p:sldId id="279" r:id="rId7"/>
    <p:sldId id="280" r:id="rId8"/>
    <p:sldId id="281" r:id="rId9"/>
    <p:sldId id="264" r:id="rId10"/>
    <p:sldId id="28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4F7"/>
    <a:srgbClr val="1E2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913" autoAdjust="0"/>
  </p:normalViewPr>
  <p:slideViewPr>
    <p:cSldViewPr snapToGrid="0" snapToObjects="1">
      <p:cViewPr varScale="1">
        <p:scale>
          <a:sx n="71" d="100"/>
          <a:sy n="71" d="100"/>
        </p:scale>
        <p:origin x="10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2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Diapositiva-mapa. Explico la secuencia lógica: caracterizo, mido autocorrelación, pruebo covariables, ajusto GLM, diagnostico residuos y solo cuando lo demuestro paso al BYM, que da el mapa. Los pasos dorados (5-7) son el corazón del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centrografía describe la geometría del conjunto. El centro medio marca la posición; la elipse de desviación estándar, la dispersión y orientación. Resultado: un cinturón alargado NNE-SSW (elipse 173×68 km, rotada 73°). Es decir, el oro se organiza en una franja con dirección </a:t>
            </a:r>
            <a:r>
              <a:rPr lang="en-US" dirty="0" err="1"/>
              <a:t>preferente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análisis de cuadrantes divide el área en celdas y compara los conteos observados con los esperados bajo aleatoriedad (CSR). El chi-cuadrado es enorme (21.182) y rechaza el azar: hay agrupamiento. Mencionar la salvedad: la cuadrícula rectangular sobre un área cóncava mete celdas vacías que inflan el estadístico; por eso lo uso solo para confirmar 'no es aleatorio', y la escala la miden Ripley y el KDE.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función L de Ripley mide el agrupamiento en función de la distancia. La curva observada está por encima de la banda de azar en todo el rango: hay agrupamiento a todas las escalas. Y es anidado: núcleos densos de ~5 km (los distritos) dentro de un cinturón de ~15 km.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KDE convierte los puntos en una superficie de densidad. Con ancho de banda de 5 km veo los núcleos; a 10 km, los distritos; a 20 km, el cinturón regional. Es la misma estructura anidada de Ripley, pero visual. Los tres mapas se complementan.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 de Moran mide si las celdas vecinas se parecen. A la izquierda, mi valor (0,30, en rojo) está lejísimos de lo que daría el azar (la nube gris centrada en cero): es </a:t>
            </a:r>
            <a:r>
              <a:rPr lang="en-US" dirty="0" err="1"/>
              <a:t>muy</a:t>
            </a:r>
            <a:r>
              <a:rPr lang="en-US" dirty="0"/>
              <a:t> significativo (z=28,7). A la derecha, la nube de Moran: cada punto es una celda; la pendiente de la recta ES el I de Moran (0,30). El cuadrante superior derecho son celdas ricas rodeadas de ricas (alto-alto, HH); el inferior izquierdo, pobres entre pobres (bajo-bajo, LL). El LISA localiza esos distritos en el mapa. En palabras: el oro se agrupa en distritos.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LISA es la versión LOCAL del Moran: en vez de un número global, calcula uno por celda, y así localiza los agrupamientos. En el mapa, las celdas rojas (HH) son ricas rodeadas de ricas: son los distritos auríferos. Las azules (LL) son pobres entre pobres. Las naranjas/celestes (HL/LH) son atípicos espaciales. Solo aparecen los clusters significativos (p&lt;0,05). Lo clave: los clusters HH coinciden con el cinturón (y con las fallas del fondo del mapa), y anticipan las zonas de alta prospectividad del modelo final. Es el puente entre la autocorrelación y el mapa de prospectividad.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Explico el criterio para que una variable sea covariable: debe existir en toda el área (en cada celda) y demostrar que discrimina el oro. Probé dos. Las fallas (distancia y densidad) NO discriminan a ninguna escala: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nulo</a:t>
            </a:r>
            <a:r>
              <a:rPr lang="en-US" dirty="0"/>
              <a:t>. La litología SÍ: la derivé del polígono geológico (existe en todo el terreno, no solo donde hay oro, para evitar data leakage) y discrimina claramente. La agrupé por criterio geológico, no por la tasa de oro, para no razonar en círculo.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Elegimos Poisson porque la respuesta es un conteo de ocurrencias por celda, y ese es exactamente el tipo de dato para el que está diseñada la distribución de Poisson.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LR significa </a:t>
            </a:r>
            <a:r>
              <a:rPr lang="es-MX" b="1" dirty="0" err="1"/>
              <a:t>Likelihood</a:t>
            </a:r>
            <a:r>
              <a:rPr lang="es-MX" b="1" dirty="0"/>
              <a:t> Ratio</a:t>
            </a:r>
            <a:r>
              <a:rPr lang="es-MX" dirty="0"/>
              <a:t> (razón de verosimilitudes). Es un estadístico que responde a una sola pregunta:</a:t>
            </a:r>
          </a:p>
          <a:p>
            <a:r>
              <a:rPr lang="es-MX" i="1" dirty="0"/>
              <a:t>"¿La litología, como conjunto, aporta algo al modelo, o daría igual no ponerla?“ entre más grande el valor, más aporte de la covariable al modelo.</a:t>
            </a:r>
            <a:endParaRPr lang="es-MX" dirty="0"/>
          </a:p>
          <a:p>
            <a:br>
              <a:rPr lang="en-US" dirty="0"/>
            </a:br>
            <a:r>
              <a:rPr lang="en-US" dirty="0" err="1"/>
              <a:t>Esta</a:t>
            </a:r>
            <a:r>
              <a:rPr lang="en-US" dirty="0"/>
              <a:t> es la salida real de statsmodels. La columna coef está en escala logarítmica; al exponenciar obtengo el IRR: intrusiva ~2,1 veces más ocurrencias que volcánica, metamórfica ~1,9, ambas muy significativas (p&lt;0,001). El test global (p=1,4e-27) confirma, con herramienta del curso, que la litología importa. Pero dos señales avisan que falta algo: la sobredispersión (phi=4,75, la varianza casi 5 veces la media) y el R² bajo. Eso lleva al diagnóstico de residuos.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Calculé</a:t>
            </a:r>
            <a:r>
              <a:rPr lang="en-US" dirty="0"/>
              <a:t> el I de Moran sobre los residuos del GLM (lo que no explicó): dio 0,296, casi igual al de los datos crudos. O sea, la litología no capturó la estructura espacial. En el mapa, los residuos no son ruido: son manchones organizados en los distritos, donde el modelo subestima el oro. Los colores: azul = el modelo predice de más o de menos; lo importante es que están agrupados, no dispersos. Conclusión: necesito un modelo </a:t>
            </a:r>
            <a:r>
              <a:rPr lang="en-US" dirty="0" err="1"/>
              <a:t>espacial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Partiendo</a:t>
            </a:r>
            <a:r>
              <a:rPr lang="en-US" dirty="0"/>
              <a:t> de OLS/GLM, la familia espacial se divide en dependencia (SAR/SEM, frecuentistas, para respuestas continuas), heterogeneidad (GWR, coeficientes que varían), y el enfoque jerárquico bayesiano CAR/BYM para conteos. ¿Por qué el BYM y no los otros? Tres razones de MIS datos: (1) mi respuesta son conteos → Poisson; (2) hay autocorrelación en los residuos (Moran 0,30) → término espacial CAR; (3) hay sobredispersión (φ=4,75) → un término de ruido, o sea un modelo jerárquico. Los SAR/SEM no encajan porque son para respuestas continuas y </a:t>
            </a:r>
            <a:r>
              <a:rPr lang="en-US" dirty="0" err="1"/>
              <a:t>frecuentistas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BYM es un </a:t>
            </a:r>
            <a:r>
              <a:rPr lang="es-MX" b="1" dirty="0"/>
              <a:t>modelo jerárquico bayesiano para datos de conteo agregados por áreas</a:t>
            </a:r>
            <a:r>
              <a:rPr lang="es-MX" dirty="0"/>
              <a:t> (tus celdas). Su idea central es descomponer la variabilidad "extra" —la que las covariables no explican— en </a:t>
            </a:r>
            <a:r>
              <a:rPr lang="es-MX" b="1" dirty="0"/>
              <a:t>dos partes</a:t>
            </a:r>
            <a:r>
              <a:rPr lang="es-MX" dirty="0"/>
              <a:t> que conviven.</a:t>
            </a:r>
          </a:p>
          <a:p>
            <a:r>
              <a:rPr lang="es-MX" b="1" dirty="0" err="1"/>
              <a:t>iid</a:t>
            </a:r>
            <a:r>
              <a:rPr lang="es-MX" dirty="0"/>
              <a:t> significa </a:t>
            </a:r>
            <a:r>
              <a:rPr lang="es-MX" i="1" dirty="0"/>
              <a:t>independiente e idénticamente distribuido</a:t>
            </a:r>
            <a:r>
              <a:rPr lang="es-MX" dirty="0"/>
              <a:t> (del inglés </a:t>
            </a:r>
            <a:r>
              <a:rPr lang="es-MX" i="1" dirty="0" err="1"/>
              <a:t>independent</a:t>
            </a:r>
            <a:r>
              <a:rPr lang="es-MX" i="1" dirty="0"/>
              <a:t> and </a:t>
            </a:r>
            <a:r>
              <a:rPr lang="es-MX" i="1" dirty="0" err="1"/>
              <a:t>identically</a:t>
            </a:r>
            <a:r>
              <a:rPr lang="es-MX" i="1" dirty="0"/>
              <a:t> </a:t>
            </a:r>
            <a:r>
              <a:rPr lang="es-MX" i="1" dirty="0" err="1"/>
              <a:t>distributed</a:t>
            </a:r>
            <a:r>
              <a:rPr lang="es-MX" dirty="0"/>
              <a:t>). Es una forma técnica de decir: </a:t>
            </a:r>
            <a:r>
              <a:rPr lang="es-MX" b="1" dirty="0"/>
              <a:t>cada celda tiene su propia variación aleatoria, sin relación con las demás.</a:t>
            </a:r>
          </a:p>
          <a:p>
            <a:r>
              <a:rPr lang="es-MX" b="1" dirty="0"/>
              <a:t>De dónde sale:</a:t>
            </a:r>
            <a:r>
              <a:rPr lang="es-MX" dirty="0"/>
              <a:t> el </a:t>
            </a:r>
            <a:r>
              <a:rPr lang="es-MX" b="1" dirty="0"/>
              <a:t>BYM2</a:t>
            </a:r>
            <a:r>
              <a:rPr lang="es-MX" dirty="0"/>
              <a:t> fue propuesto por </a:t>
            </a:r>
            <a:r>
              <a:rPr lang="es-MX" b="1" dirty="0" err="1"/>
              <a:t>Riebler</a:t>
            </a:r>
            <a:r>
              <a:rPr lang="es-MX" b="1" dirty="0"/>
              <a:t> y colaboradores en 2016</a:t>
            </a:r>
            <a:r>
              <a:rPr lang="es-MX" dirty="0"/>
              <a:t>, como una </a:t>
            </a:r>
            <a:r>
              <a:rPr lang="es-MX" b="1" dirty="0" err="1"/>
              <a:t>reparametrización</a:t>
            </a:r>
            <a:r>
              <a:rPr lang="es-MX" b="1" dirty="0"/>
              <a:t> mejorada</a:t>
            </a:r>
            <a:r>
              <a:rPr lang="es-MX" dirty="0"/>
              <a:t> del BYM clásico. No es un modelo distinto: es el </a:t>
            </a:r>
            <a:r>
              <a:rPr lang="es-MX" b="1" dirty="0"/>
              <a:t>mismo BYM</a:t>
            </a:r>
            <a:r>
              <a:rPr lang="es-MX" dirty="0"/>
              <a:t> (los mismos u y v), pero escrito de una forma matemáticamente más conveniente.</a:t>
            </a:r>
          </a:p>
          <a:p>
            <a:r>
              <a:rPr lang="es-MX" b="1" dirty="0"/>
              <a:t>El problema que resuelve</a:t>
            </a:r>
            <a:r>
              <a:rPr lang="es-MX" dirty="0"/>
              <a:t> (la razón de su existencia): en el BYM clásico, los dos términos u y v tienen cada uno su propia varianza (σ²ᵤ y σ²ᵥ), y resulta que </a:t>
            </a:r>
            <a:r>
              <a:rPr lang="es-MX" b="1" dirty="0"/>
              <a:t>el modelo no puede distinguirlas bien</a:t>
            </a:r>
            <a:r>
              <a:rPr lang="es-MX" dirty="0"/>
              <a:t> — son "no identificables". En la práctica, esto significa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 sabes cuánta variación es espacial y cuánta es ruido.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priores (la información previa bayesiana) son difíciles de fijar de forma sensata.</a:t>
            </a:r>
          </a:p>
          <a:p>
            <a:r>
              <a:rPr lang="es-MX" b="1" dirty="0"/>
              <a:t>Cómo lo arregla el BYM2:</a:t>
            </a:r>
            <a:r>
              <a:rPr lang="es-MX" dirty="0"/>
              <a:t> en vez de dos varianzas separadas, usa </a:t>
            </a:r>
            <a:r>
              <a:rPr lang="es-MX" b="1" dirty="0"/>
              <a:t>dos parámetros interpretables</a:t>
            </a:r>
            <a:r>
              <a:rPr lang="es-MX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Una </a:t>
            </a:r>
            <a:r>
              <a:rPr lang="es-MX" b="1" dirty="0"/>
              <a:t>varianza total</a:t>
            </a:r>
            <a:r>
              <a:rPr lang="es-MX" dirty="0"/>
              <a:t> (cuánta variabilidad extra hay en total).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 </a:t>
            </a:r>
            <a:r>
              <a:rPr lang="es-MX" b="1" dirty="0"/>
              <a:t>parámetro de mezcla φ (phi)</a:t>
            </a:r>
            <a:r>
              <a:rPr lang="es-MX" dirty="0"/>
              <a:t>, entre 0 y 1, que dice </a:t>
            </a:r>
            <a:r>
              <a:rPr lang="es-MX" b="1" dirty="0"/>
              <a:t>qué proporción de esa variabilidad es espacial</a:t>
            </a:r>
            <a:r>
              <a:rPr lang="es-MX" dirty="0"/>
              <a:t> frente a ruido.</a:t>
            </a:r>
          </a:p>
          <a:p>
            <a:r>
              <a:rPr lang="es-MX" dirty="0"/>
              <a:t>Usé el BYM2 porque es la versión moderna del BYM que separa de forma identificable la parte espacial del ruido, resumida en el parámetro φ, y evita la confusión espacial que afecta a la parametrización clásica."</a:t>
            </a:r>
            <a:br>
              <a:rPr lang="en-US" dirty="0"/>
            </a:br>
            <a:r>
              <a:rPr lang="en-US" dirty="0"/>
              <a:t>La ecuación: log de la intensidad esperada = intercepto + litología (Xβ) + efecto espacial (u) + ruido (v). u captura la autocorrelación (es el componente CAR, usa la misma vecindad del Moran); v captura la sobredispersión. Enlace con la clase: u es un modelo CAR, de los que vimos; el BYM combina CAR más ruido; el BYM2 los hace identificables y añade φ. Se ajusta con INLA, sin MCMC.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salida real de INLA. Arriba, los efectos fijos (la litología): intrusiva +0,75 y metamórfica +0,81, con intervalos de credibilidad que no incluyen el cero, o sea significativas y coherentes con </a:t>
            </a:r>
            <a:r>
              <a:rPr lang="en-US" dirty="0" err="1"/>
              <a:t>el</a:t>
            </a:r>
            <a:r>
              <a:rPr lang="en-US" dirty="0"/>
              <a:t> GLM. Abajo, los hiperparámetros: el más importante es Phi=0,99, que dice que el 99% de la variabilidad extra es espacial. DIC y WAIC son medidas de ajuste. En la siguiente sintetizo estos </a:t>
            </a:r>
            <a:r>
              <a:rPr lang="en-US" dirty="0" err="1"/>
              <a:t>números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s-MX" dirty="0"/>
              <a:t>"Usé priores poco informativos de tipo </a:t>
            </a:r>
            <a:r>
              <a:rPr lang="es-MX" dirty="0" err="1"/>
              <a:t>penalized</a:t>
            </a:r>
            <a:r>
              <a:rPr lang="es-MX" dirty="0"/>
              <a:t> </a:t>
            </a:r>
            <a:r>
              <a:rPr lang="es-MX" dirty="0" err="1"/>
              <a:t>complexity</a:t>
            </a:r>
            <a:r>
              <a:rPr lang="es-MX" dirty="0"/>
              <a:t>, que son conservadores y favorecen la simplicidad; el φ=0,99 emergió de los datos, no de una creencia previa fuerte.“</a:t>
            </a:r>
            <a:br>
              <a:rPr lang="es-MX" dirty="0"/>
            </a:br>
            <a:br>
              <a:rPr lang="es-MX" dirty="0"/>
            </a:br>
            <a:r>
              <a:rPr lang="es-MX" dirty="0"/>
              <a:t>Ambos son </a:t>
            </a:r>
            <a:r>
              <a:rPr lang="es-MX" b="1" dirty="0"/>
              <a:t>criterios de comparación de modelos</a:t>
            </a:r>
            <a:r>
              <a:rPr lang="es-MX" dirty="0"/>
              <a:t> bayesianos. Sirven para responder una pregunta: </a:t>
            </a:r>
            <a:r>
              <a:rPr lang="es-MX" i="1" dirty="0"/>
              <a:t>"entre dos o más modelos candidatos, ¿cuál es el mejor?"</a:t>
            </a:r>
            <a:r>
              <a:rPr lang="es-MX" dirty="0"/>
              <a:t>. Sus nombres: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DIC</a:t>
            </a:r>
            <a:r>
              <a:rPr lang="es-MX" dirty="0"/>
              <a:t> = </a:t>
            </a:r>
            <a:r>
              <a:rPr lang="es-MX" i="1" dirty="0" err="1"/>
              <a:t>Deviance</a:t>
            </a:r>
            <a:r>
              <a:rPr lang="es-MX" i="1" dirty="0"/>
              <a:t> </a:t>
            </a:r>
            <a:r>
              <a:rPr lang="es-MX" i="1" dirty="0" err="1"/>
              <a:t>Information</a:t>
            </a:r>
            <a:r>
              <a:rPr lang="es-MX" i="1" dirty="0"/>
              <a:t> </a:t>
            </a:r>
            <a:r>
              <a:rPr lang="es-MX" i="1" dirty="0" err="1"/>
              <a:t>Criterion</a:t>
            </a:r>
            <a:r>
              <a:rPr lang="es-MX" dirty="0"/>
              <a:t> (Criterio de Información de la </a:t>
            </a:r>
            <a:r>
              <a:rPr lang="es-MX" dirty="0" err="1"/>
              <a:t>Devianza</a:t>
            </a:r>
            <a:r>
              <a:rPr lang="es-MX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WAIC</a:t>
            </a:r>
            <a:r>
              <a:rPr lang="es-MX" dirty="0"/>
              <a:t> = </a:t>
            </a:r>
            <a:r>
              <a:rPr lang="es-MX" i="1" dirty="0" err="1"/>
              <a:t>Widely</a:t>
            </a:r>
            <a:r>
              <a:rPr lang="es-MX" i="1" dirty="0"/>
              <a:t> </a:t>
            </a:r>
            <a:r>
              <a:rPr lang="es-MX" i="1" dirty="0" err="1"/>
              <a:t>Applicable</a:t>
            </a:r>
            <a:r>
              <a:rPr lang="es-MX" i="1" dirty="0"/>
              <a:t> </a:t>
            </a:r>
            <a:r>
              <a:rPr lang="es-MX" i="1" dirty="0" err="1"/>
              <a:t>Information</a:t>
            </a:r>
            <a:r>
              <a:rPr lang="es-MX" i="1" dirty="0"/>
              <a:t> </a:t>
            </a:r>
            <a:r>
              <a:rPr lang="es-MX" i="1" dirty="0" err="1"/>
              <a:t>Criterion</a:t>
            </a:r>
            <a:r>
              <a:rPr lang="es-MX" dirty="0"/>
              <a:t> (Criterio de Información Ampliamente Aplicable).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 que responde la pregunta: dónde es más probable encontrar oro. Es el valor ajustado del modelo (intensidad esperada por celda), en escala logarítmica. Las zonas claras son de alta prospectividad: el cinturón y los distritos. Combina litología y estructura espacial en una superficie suavizada.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más interesante para la discusión: la prospectividad que la litología NO explica. Rojo = más fértil de lo que predice su geología (posible control estructural/hidrotermal); azul = menos. Que tenga estructura marcada prueba que hay un control espacial real más allá de la roca. Es la fertilidad latente del terreno.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ciclo. Calculé el I de Moran sobre los residuos del BYM: pasó de 0,30 (en el GLM) a prácticamente 0. El modelo capturó toda la autocorrelación y quedó bien especificado. Si preguntan por el leve negativo (−0,057): está muy cerca del valor esperado bajo independencia; en la práctica no hay autocorrelación.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C8972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C8972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GEOESPACIAL  ·  INFORME DE AVANCE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Prospectividad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ocurrencias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minerales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(Au) 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Porción</a:t>
            </a:r>
            <a:r>
              <a:rPr lang="en-US" sz="15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Norte de las cordilleras Central y Occidental de Colombia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2926080" cy="0"/>
          </a:xfrm>
          <a:prstGeom prst="line">
            <a:avLst/>
          </a:prstGeom>
          <a:noFill/>
          <a:ln w="25400">
            <a:solidFill>
              <a:srgbClr val="C89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Felipe Cadavid Díaz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los objetivos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AF3E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relacionan la litología y la estructura espacial de la zona con la probabilidad de ocurrencia de Oro?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649224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mapa de prospectividad de Au e interpretar los controles de la distribución de las ocurrencias.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852928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3140"/>
                </a:solidFill>
                <a:ea typeface="Calibri" pitchFamily="34" charset="-122"/>
                <a:cs typeface="Calibri" pitchFamily="34" charset="-120"/>
              </a:rPr>
              <a:t>Caracterizar el patrón espacial de las ocurrencias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3140"/>
                </a:solidFill>
                <a:ea typeface="Calibri" pitchFamily="34" charset="-122"/>
                <a:cs typeface="Calibri" pitchFamily="34" charset="-120"/>
              </a:rPr>
              <a:t>Cuantificar la autocorrelación espacial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3140"/>
                </a:solidFill>
                <a:ea typeface="Calibri" pitchFamily="34" charset="-122"/>
                <a:cs typeface="Calibri" pitchFamily="34" charset="-120"/>
              </a:rPr>
              <a:t>Evaluar covariables y ajustar un GLM/</a:t>
            </a:r>
            <a:r>
              <a:rPr lang="en-US" sz="1600" dirty="0" err="1">
                <a:solidFill>
                  <a:srgbClr val="233140"/>
                </a:solidFill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dirty="0">
                <a:solidFill>
                  <a:srgbClr val="23314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3140"/>
                </a:solidFill>
                <a:ea typeface="Calibri" pitchFamily="34" charset="-122"/>
                <a:cs typeface="Calibri" pitchFamily="34" charset="-120"/>
              </a:rPr>
              <a:t>Espacial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qué información trabajamos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A3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C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1.835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ocurrencias de Au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A3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C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59.197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546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km² de área de trabajo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ocurrencia trae, entre otros atributos: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principal y ensamble mineral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ocurrencia y tipo de depósito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Roca huésped y tipo de roca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municipio y coordenadas (EPSG:21897)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≈ 301 × 494 km sobre el norte de las cordilleras Central y Occidental.</a:t>
            </a:r>
            <a:endParaRPr lang="en-US" sz="1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72422B6-8F1E-404A-AD62-D2571374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402" y="874902"/>
            <a:ext cx="4617695" cy="511111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F3675F7-56C3-46A2-8178-1138140DFE0C}"/>
              </a:ext>
            </a:extLst>
          </p:cNvPr>
          <p:cNvSpPr txBox="1"/>
          <p:nvPr/>
        </p:nvSpPr>
        <p:spPr>
          <a:xfrm>
            <a:off x="6801402" y="6077634"/>
            <a:ext cx="5293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dirty="0">
                <a:solidFill>
                  <a:srgbClr val="8B949E"/>
                </a:solidFill>
                <a:effectLst/>
              </a:rPr>
              <a:t>Construimos el Área de Trabajo como un </a:t>
            </a:r>
            <a:r>
              <a:rPr lang="es-MX" sz="1400" dirty="0">
                <a:solidFill>
                  <a:srgbClr val="8B949E"/>
                </a:solidFill>
              </a:rPr>
              <a:t>A</a:t>
            </a:r>
            <a:r>
              <a:rPr lang="es-MX" sz="1400" b="0" dirty="0">
                <a:solidFill>
                  <a:srgbClr val="8B949E"/>
                </a:solidFill>
                <a:effectLst/>
              </a:rPr>
              <a:t>lpha </a:t>
            </a:r>
            <a:r>
              <a:rPr lang="es-MX" sz="1400" dirty="0" err="1">
                <a:solidFill>
                  <a:srgbClr val="8B949E"/>
                </a:solidFill>
              </a:rPr>
              <a:t>S</a:t>
            </a:r>
            <a:r>
              <a:rPr lang="es-MX" sz="1400" b="0" dirty="0" err="1">
                <a:solidFill>
                  <a:srgbClr val="8B949E"/>
                </a:solidFill>
                <a:effectLst/>
              </a:rPr>
              <a:t>hape</a:t>
            </a:r>
            <a:r>
              <a:rPr lang="es-MX" sz="1400" b="0" dirty="0">
                <a:solidFill>
                  <a:srgbClr val="8B949E"/>
                </a:solidFill>
                <a:effectLst/>
              </a:rPr>
              <a:t> a partir de la BD de Ocurrencias.</a:t>
            </a:r>
            <a:endParaRPr lang="es-MX" sz="1400" b="0" dirty="0">
              <a:solidFill>
                <a:srgbClr val="BBBEBF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METODOLÓGICO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hilo conductor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6252" y="274320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534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29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91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6452" y="274320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536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31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93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Covariables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(litología)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6652" y="274320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538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33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95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(Poisson)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16852" y="274320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540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35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97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7052" y="274320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542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37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99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BYM2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(espacial)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017252" y="274320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154412" y="274320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3908" y="2359152"/>
            <a:ext cx="402336" cy="310896"/>
          </a:xfrm>
          <a:prstGeom prst="rect">
            <a:avLst/>
          </a:prstGeom>
          <a:solidFill>
            <a:srgbClr val="E4C2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00132" y="274320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justifica el siguiente: probamos, diagnosticamos y solo entonces avanzamos al modelo espacial.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PUNTOS · 1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Centrografía: forma y orientación</a:t>
            </a:r>
            <a:endParaRPr lang="en-US" sz="2900" dirty="0"/>
          </a:p>
        </p:txBody>
      </p:sp>
      <p:pic>
        <p:nvPicPr>
          <p:cNvPr id="5" name="Image 0" descr="report_assets/fig_ce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1517904"/>
            <a:ext cx="3378016" cy="50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0952" y="2122293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medio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</a:t>
            </a:r>
            <a:r>
              <a:rPr lang="en-US" sz="15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desviación estándar resumen dónde está y cómo se orienta la nube de puntos.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Cinturón NNE-SSW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 de 173 × 68 km (elongación 2,5) rotada 73°: el oro se alinea en una franja, no se dispersa.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PUNTOS · 2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Cuadrantes: ¿es aleatorio?</a:t>
            </a:r>
            <a:endParaRPr lang="en-US" sz="2900" dirty="0"/>
          </a:p>
        </p:txBody>
      </p:sp>
      <p:pic>
        <p:nvPicPr>
          <p:cNvPr id="5" name="Image 0" descr="report_assets/fig2_cuadr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2240"/>
            <a:ext cx="3082568" cy="50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2006280"/>
            <a:ext cx="6949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idea: </a:t>
            </a: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el área en celdas y comparar los conteos con los esperados si el oro se ubicara al azar (CSR).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χ² = 21.182 (p ≈ 0)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la aleatoriedad: el oro está agrupado.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PUNTOS · 3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L de Ripley: a qué escala se agrupa</a:t>
            </a:r>
            <a:endParaRPr lang="en-US" sz="2900" dirty="0"/>
          </a:p>
        </p:txBody>
      </p:sp>
      <p:pic>
        <p:nvPicPr>
          <p:cNvPr id="5" name="Image 0" descr="report_assets/fig3_ripl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169" y="1737359"/>
            <a:ext cx="4968278" cy="3840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4592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</a:t>
            </a:r>
            <a:r>
              <a:rPr lang="en-US" sz="150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r>
              <a:rPr lang="en-US" sz="15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(Amarilla) supera la banda de azar (gris) en todo el rango: </a:t>
            </a:r>
            <a:r>
              <a:rPr lang="en-US" sz="15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 en todas las escalas.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anidada: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núcleos densos de ~4-5 km (distritos) dentro de un cinturón de ~15 km.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fina (~5 km) fundamenta la resolución de la retícula de modelado.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PUNTOS · 4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(KDE)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report_assets/fig4_k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880" y="1691640"/>
            <a:ext cx="5845479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km → núcleos puntuales   ·   10 km → distritos   ·   20 km → cinturón regional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983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anchos de banda no compiten: se complementan, mostrando la misma estructura anidada que reveló Ripley.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AUTOCORRELACIÓN ESPACIAL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de Moran: ¿los </a:t>
            </a:r>
            <a:r>
              <a:rPr lang="en-US" sz="2900" b="1" dirty="0" err="1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vecinos</a:t>
            </a: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 parecen?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report_assets/fig_mor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47" y="2194560"/>
            <a:ext cx="5763025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8920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Izq.: el 0,30 (rojo) está lejísimos de la nube de azar (gris). Der.: nube de Moran, pendiente = 0,30.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35240" y="155448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1E2A3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 Moran = 0,30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63840" y="219456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28,7 · p = 0,001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parecen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oro se concentra en distritos, no está disperso.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</a:t>
            </a: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(arriba-der.): ricas rodeadas de ricas.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</a:t>
            </a: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(abajo-izq.): pobres entre pobres.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AUTOCORRELACIÓN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LISA: dónde están los distritos</a:t>
            </a:r>
            <a:endParaRPr lang="en-US" sz="2900" dirty="0"/>
          </a:p>
        </p:txBody>
      </p:sp>
      <p:pic>
        <p:nvPicPr>
          <p:cNvPr id="5" name="Image 0" descr="report_assets/fig_lis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1261872"/>
            <a:ext cx="3093923" cy="50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33672" y="1815912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= versión local del I de Moran: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por celda (no uno global). Localiza los agrupamientos en el mapa.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(rojo): </a:t>
            </a: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ricas rodeadas de ricas → los distritos auríferos.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(azul): </a:t>
            </a: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pobres entre pobres → zonas estériles.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/ LH: </a:t>
            </a: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 espaciales (aislados).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decidimos qué variable sirve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39" y="4243634"/>
            <a:ext cx="5120640" cy="2244037"/>
          </a:xfrm>
          <a:prstGeom prst="roundRect">
            <a:avLst>
              <a:gd name="adj" fmla="val 2286"/>
            </a:avLst>
          </a:prstGeom>
          <a:solidFill>
            <a:srgbClr val="FAF3E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19" y="4164801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400" b="1" dirty="0" err="1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</a:t>
            </a:r>
            <a:r>
              <a:rPr lang="en-US" sz="1400" b="1" dirty="0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 </a:t>
            </a:r>
            <a:r>
              <a:rPr lang="en-US" sz="1400" b="1" dirty="0" err="1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funcionó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350" dirty="0">
              <a:solidFill>
                <a:srgbClr val="2331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35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probó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distancia a la falla más cercana y densidad de fallas por celda.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discrimina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presencia ni la intensidad de oro, a ninguna </a:t>
            </a:r>
            <a:r>
              <a:rPr lang="en-US" sz="135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 flipV="1">
            <a:off x="6172200" y="4314090"/>
            <a:ext cx="5669280" cy="2178149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4123" y="4248202"/>
            <a:ext cx="5547358" cy="2302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4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Litología</a:t>
            </a: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SÍ </a:t>
            </a:r>
            <a:r>
              <a:rPr lang="en-US" sz="14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funcionó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350" b="1" dirty="0">
              <a:solidFill>
                <a:srgbClr val="2331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r>
              <a:rPr lang="en-US" sz="135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polígono geológico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(existe en todo el terreno, no solo donde hay oro).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intrusivas y metamórficas, las más </a:t>
            </a:r>
            <a:r>
              <a:rPr lang="en-US" sz="135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favorables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5F9DA14-EA7E-4E50-80CB-A19CD0669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43631"/>
              </p:ext>
            </p:extLst>
          </p:nvPr>
        </p:nvGraphicFramePr>
        <p:xfrm>
          <a:off x="6172200" y="1898392"/>
          <a:ext cx="5669281" cy="2242537"/>
        </p:xfrm>
        <a:graphic>
          <a:graphicData uri="http://schemas.openxmlformats.org/drawingml/2006/table">
            <a:tbl>
              <a:tblPr/>
              <a:tblGrid>
                <a:gridCol w="1127996">
                  <a:extLst>
                    <a:ext uri="{9D8B030D-6E8A-4147-A177-3AD203B41FA5}">
                      <a16:colId xmlns:a16="http://schemas.microsoft.com/office/drawing/2014/main" val="1999732365"/>
                    </a:ext>
                  </a:extLst>
                </a:gridCol>
                <a:gridCol w="908257">
                  <a:extLst>
                    <a:ext uri="{9D8B030D-6E8A-4147-A177-3AD203B41FA5}">
                      <a16:colId xmlns:a16="http://schemas.microsoft.com/office/drawing/2014/main" val="3937866022"/>
                    </a:ext>
                  </a:extLst>
                </a:gridCol>
                <a:gridCol w="908257">
                  <a:extLst>
                    <a:ext uri="{9D8B030D-6E8A-4147-A177-3AD203B41FA5}">
                      <a16:colId xmlns:a16="http://schemas.microsoft.com/office/drawing/2014/main" val="1073573171"/>
                    </a:ext>
                  </a:extLst>
                </a:gridCol>
                <a:gridCol w="908257">
                  <a:extLst>
                    <a:ext uri="{9D8B030D-6E8A-4147-A177-3AD203B41FA5}">
                      <a16:colId xmlns:a16="http://schemas.microsoft.com/office/drawing/2014/main" val="1820538961"/>
                    </a:ext>
                  </a:extLst>
                </a:gridCol>
                <a:gridCol w="908257">
                  <a:extLst>
                    <a:ext uri="{9D8B030D-6E8A-4147-A177-3AD203B41FA5}">
                      <a16:colId xmlns:a16="http://schemas.microsoft.com/office/drawing/2014/main" val="2584587207"/>
                    </a:ext>
                  </a:extLst>
                </a:gridCol>
                <a:gridCol w="908257">
                  <a:extLst>
                    <a:ext uri="{9D8B030D-6E8A-4147-A177-3AD203B41FA5}">
                      <a16:colId xmlns:a16="http://schemas.microsoft.com/office/drawing/2014/main" val="3402261351"/>
                    </a:ext>
                  </a:extLst>
                </a:gridCol>
              </a:tblGrid>
              <a:tr h="4883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1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Clase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Celdas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Sin oro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 oro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N° Ocurrencias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765620"/>
                  </a:ext>
                </a:extLst>
              </a:tr>
              <a:tr h="330798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200" b="1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Intrusiva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769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695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0,904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414320"/>
                  </a:ext>
                </a:extLst>
              </a:tr>
              <a:tr h="391986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200" b="1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Metamórfica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766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633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0,826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078608"/>
                  </a:ext>
                </a:extLst>
              </a:tr>
              <a:tr h="39717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200" b="1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Sed-Cobertura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186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0,634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563637"/>
                  </a:ext>
                </a:extLst>
              </a:tr>
              <a:tr h="380241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200" b="1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Máfico-</a:t>
                      </a:r>
                      <a:r>
                        <a:rPr lang="es-CO" sz="1200" b="1" i="0" u="none" strike="noStrike" dirty="0" err="1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Ultram</a:t>
                      </a:r>
                      <a:r>
                        <a:rPr lang="es-CO" sz="1200" b="1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0,512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287099"/>
                  </a:ext>
                </a:extLst>
              </a:tr>
              <a:tr h="2539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200" b="1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Volcánica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448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352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 dirty="0">
                          <a:solidFill>
                            <a:srgbClr val="233140"/>
                          </a:solidFill>
                          <a:effectLst/>
                          <a:latin typeface="Calibri" panose="020F0502020204030204" pitchFamily="34" charset="0"/>
                        </a:rPr>
                        <a:t>0,433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293417"/>
                  </a:ext>
                </a:extLst>
              </a:tr>
            </a:tbl>
          </a:graphicData>
        </a:graphic>
      </p:graphicFrame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3F931C9B-51CF-48F3-A31D-9C7BDBE0D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10399"/>
              </p:ext>
            </p:extLst>
          </p:nvPr>
        </p:nvGraphicFramePr>
        <p:xfrm>
          <a:off x="548639" y="1898392"/>
          <a:ext cx="5120640" cy="16093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oro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mediana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2.361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de fallas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NO ESPACIAL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 de Poisson: salida del modelo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537960" cy="3422634"/>
          </a:xfrm>
          <a:prstGeom prst="roundRect">
            <a:avLst>
              <a:gd name="adj" fmla="val 1333"/>
            </a:avLst>
          </a:prstGeom>
          <a:solidFill>
            <a:srgbClr val="12202E"/>
          </a:solidFill>
          <a:ln w="12700">
            <a:solidFill>
              <a:srgbClr val="32475C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700784"/>
            <a:ext cx="109728" cy="109728"/>
          </a:xfrm>
          <a:prstGeom prst="ellipse">
            <a:avLst/>
          </a:prstGeom>
          <a:solidFill>
            <a:srgbClr val="E0B15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700784"/>
            <a:ext cx="109728" cy="109728"/>
          </a:xfrm>
          <a:prstGeom prst="ellipse">
            <a:avLst/>
          </a:prstGeom>
          <a:solidFill>
            <a:srgbClr val="7FBF7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6080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Generalized Linear Model  (family=Poisson, link=Log)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 err="1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Dep.Var</a:t>
            </a: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 err="1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n_au</a:t>
            </a: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N=2548   Df Model=4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 R-sq (CS): 0.0505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coef  std err     z   P&gt;|z|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4C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Intercept         -0.8369   0.072 -11.66  0.000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4C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Intrusiva          0.7358   0.081   9.06  0.000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Mafico_Ultramafica 0.1673   0.102   1.65  0.099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4C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Metamorfica        0.6462   0.082   7.88  0.000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Sed_Cobertura      0.3819   0.117   3.27  0.001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4C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Dispersion (phi) = 4.75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global litologia: LR=132.0, gl=4, p=1.4e-27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60920" y="1436418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en log; al exponenciar → IRR. </a:t>
            </a:r>
            <a:r>
              <a:rPr lang="en-US" sz="160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Intrusiva e^0,74 ≈ 2,1×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más oro que la volcánica; Metamórfica ≈ 1,9×. Ambas p&lt;0,001.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global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(p=1,4e-27): la </a:t>
            </a:r>
            <a:r>
              <a:rPr lang="en-US" sz="160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litología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9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Pero: φ = 4,75 (sobredispersión)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pseudo-R² bajo → el Poisson simple no basta.</a:t>
            </a:r>
            <a:endParaRPr lang="en-US" sz="1600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B0972027-9F39-4260-8655-350E417A2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388995"/>
              </p:ext>
            </p:extLst>
          </p:nvPr>
        </p:nvGraphicFramePr>
        <p:xfrm>
          <a:off x="649918" y="5106750"/>
          <a:ext cx="6518284" cy="1516380"/>
        </p:xfrm>
        <a:graphic>
          <a:graphicData uri="http://schemas.openxmlformats.org/drawingml/2006/table">
            <a:tbl>
              <a:tblPr/>
              <a:tblGrid>
                <a:gridCol w="1613284">
                  <a:extLst>
                    <a:ext uri="{9D8B030D-6E8A-4147-A177-3AD203B41FA5}">
                      <a16:colId xmlns:a16="http://schemas.microsoft.com/office/drawing/2014/main" val="294055943"/>
                    </a:ext>
                  </a:extLst>
                </a:gridCol>
                <a:gridCol w="1635000">
                  <a:extLst>
                    <a:ext uri="{9D8B030D-6E8A-4147-A177-3AD203B41FA5}">
                      <a16:colId xmlns:a16="http://schemas.microsoft.com/office/drawing/2014/main" val="816143834"/>
                    </a:ext>
                  </a:extLst>
                </a:gridCol>
                <a:gridCol w="1635000">
                  <a:extLst>
                    <a:ext uri="{9D8B030D-6E8A-4147-A177-3AD203B41FA5}">
                      <a16:colId xmlns:a16="http://schemas.microsoft.com/office/drawing/2014/main" val="139160443"/>
                    </a:ext>
                  </a:extLst>
                </a:gridCol>
                <a:gridCol w="1635000">
                  <a:extLst>
                    <a:ext uri="{9D8B030D-6E8A-4147-A177-3AD203B41FA5}">
                      <a16:colId xmlns:a16="http://schemas.microsoft.com/office/drawing/2014/main" val="2448626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2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Litología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200" b="1" kern="120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</a:t>
                      </a:r>
                      <a:r>
                        <a:rPr lang="es-CO" sz="12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(</a:t>
                      </a:r>
                      <a:r>
                        <a:rPr lang="el-GR" sz="12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β, </a:t>
                      </a:r>
                      <a:r>
                        <a:rPr lang="es-CO" sz="12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200" b="1" kern="12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</a:t>
                      </a:r>
                      <a:r>
                        <a:rPr lang="el-GR" sz="1200" b="1" kern="12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= </a:t>
                      </a:r>
                      <a:r>
                        <a:rPr lang="es-CO" sz="1200" b="1" kern="12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2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0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2,09× más oro que la volcánica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303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Metamórfica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+0,6462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1,91× más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4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Sed-Cobertura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+0,3819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1,47× más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349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Máfico-Ultram.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+0,1673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CO" sz="1150" b="1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1,18× (no significativo)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1533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Diagnóstico: ¿quedó estructura espacial?</a:t>
            </a:r>
            <a:endParaRPr lang="en-US" sz="2900" dirty="0"/>
          </a:p>
        </p:txBody>
      </p:sp>
      <p:pic>
        <p:nvPicPr>
          <p:cNvPr id="5" name="Image 0" descr="report_assets/fig5_residu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43" y="1223907"/>
            <a:ext cx="3919129" cy="50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95618" y="595922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del GLM (lo que el modelo NO explicó).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1732227"/>
            <a:ext cx="5623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 Moran de los residuos = 0,296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igual al de los datos crudos (0,297): la litología absorbió apenas ~0,3 % de la estructura espacial.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mapa: </a:t>
            </a:r>
            <a:r>
              <a:rPr lang="en-US" sz="14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NO son ruido — forman manchones organizados que coinciden con los distritos. El modelo se queda corto justo donde hay oro.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falta un </a:t>
            </a:r>
            <a:r>
              <a:rPr lang="en-US" b="1" dirty="0" err="1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r>
              <a:rPr lang="en-US" b="1" dirty="0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especial!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MODELOS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un modelo CAR/BYM?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06908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8348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/ GLM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8348" y="2167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espacial)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0380" y="141732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14700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6140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· SEM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06140" y="2167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orden · frecuentista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(respuesta continua)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8172" y="141732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22492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3932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 · regímenes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13932" y="2167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orden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(coef. varían en el espacio)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55964" y="141732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30284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1724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/ BYM 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21724" y="2167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conteos + jerárquico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bayesiano (INLA)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datos me llevan al BYM: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2356" y="36118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85316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= conteos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0956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N.º de ocurrencias por celda → familia Poisson.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1396" y="36118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9996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34356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autocorrelación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39996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con Moran 0,30 → necesito término espacial (CAR).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60436" y="36118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89036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883396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Sobredispersión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89036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4,75 → un término de ruido extra (jerárquico).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ESPACIAL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BYM2, componente a componente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log(μ) = β₀ + Xβ + </a:t>
            </a:r>
            <a:r>
              <a:rPr lang="en-US" sz="2600" b="1" dirty="0">
                <a:solidFill>
                  <a:srgbClr val="E4C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en-US" sz="26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Litología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de la roca (la covariable), igual que en el GLM.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242316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C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53712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espacial (CAR)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3712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que celdas vecinas se parezcan. Captura la autocorrelación (Moran 0,30).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18704" y="242316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283A4D"/>
          </a:solidFill>
          <a:ln w="12700">
            <a:solidFill>
              <a:srgbClr val="3C5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93024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(iid)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93024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propia de cada celda. Absorbe la sobredispersión (φ=4,75).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22323F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634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MX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BYM2 fue propuesto por </a:t>
            </a:r>
            <a:r>
              <a:rPr lang="es-MX" sz="1300" dirty="0" err="1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Riebler</a:t>
            </a:r>
            <a:r>
              <a:rPr lang="es-MX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2016, como una </a:t>
            </a:r>
            <a:r>
              <a:rPr lang="es-MX" sz="1300" dirty="0" err="1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reparametrización</a:t>
            </a:r>
            <a:r>
              <a:rPr lang="es-MX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mejorada del BYM clásico.  Es el mismo BYM, pero escrito de una forma matemáticamente más conveniente introduciendo el parámetro φ (phi) que nos indica qué proporción de esa variabilidad es espacial frente a ruido.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BYM2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 del modelo (INLA)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537960" cy="4114800"/>
          </a:xfrm>
          <a:prstGeom prst="roundRect">
            <a:avLst>
              <a:gd name="adj" fmla="val 1333"/>
            </a:avLst>
          </a:prstGeom>
          <a:solidFill>
            <a:srgbClr val="12202E"/>
          </a:solidFill>
          <a:ln w="12700">
            <a:solidFill>
              <a:srgbClr val="32475C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55064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55064"/>
            <a:ext cx="109728" cy="109728"/>
          </a:xfrm>
          <a:prstGeom prst="ellipse">
            <a:avLst/>
          </a:prstGeom>
          <a:solidFill>
            <a:srgbClr val="E0B15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655064"/>
            <a:ext cx="109728" cy="109728"/>
          </a:xfrm>
          <a:prstGeom prst="ellipse">
            <a:avLst/>
          </a:prstGeom>
          <a:solidFill>
            <a:srgbClr val="7FBF7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6080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effects: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mean     sd  0.025q 0.975q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(Intercept)        -2.156  0.156  -2.464 -1.853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Intrusiva           0.746  0.185   0.383  1.109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Mafico_Ultramafica  0.154  0.201  -0.240  0.549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Metamorfica         0.813  0.201   0.419  1.207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Sed_Cobertura       0.307  0.243  -0.169  0.783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hyperparameters: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mean     sd  0.025q 0.975q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Precision for idx  0.285  0.021   0.246  0.329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4C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Phi for idx        0.991  0.009   0.967  0.999</a:t>
            </a: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DIC = 4351.77     WAIC = 4352.12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60020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Intrusiva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+0,75 y Metamórfica +0,81, con intervalos que no cruzan 0 → coherentes con </a:t>
            </a:r>
            <a:r>
              <a:rPr lang="en-US" sz="160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GLM</a:t>
            </a:r>
            <a:endParaRPr lang="en-US" sz="16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= 0,99</a:t>
            </a:r>
            <a:r>
              <a:rPr lang="en-US" sz="16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~99 % de la variabilidad extra es espacial estructurada, casi nada es ruido.</a:t>
            </a:r>
            <a:endParaRPr lang="en-US" sz="1600" dirty="0"/>
          </a:p>
          <a:p>
            <a:pPr marL="0" indent="0">
              <a:lnSpc>
                <a:spcPct val="106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prospectividad de Au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7594209" y="1913207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AF3E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22809" y="2233247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esperada de ocurrencias por </a:t>
            </a:r>
            <a:r>
              <a:rPr lang="en-US" sz="135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Tonalidades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Calidas</a:t>
            </a:r>
            <a:r>
              <a:rPr lang="en-US" sz="13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350" b="1" dirty="0" err="1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1350" b="1" dirty="0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prospectividad</a:t>
            </a:r>
            <a:r>
              <a:rPr lang="en-US" sz="1350" b="1" dirty="0">
                <a:solidFill>
                  <a:srgbClr val="B54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litología + estructura espacial.</a:t>
            </a:r>
            <a:endParaRPr lang="en-US" sz="13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C7C1DA0-ED5B-403D-8980-E19DB3BD05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538"/>
          <a:stretch/>
        </p:blipFill>
        <p:spPr>
          <a:xfrm>
            <a:off x="1534551" y="1261872"/>
            <a:ext cx="4849683" cy="5380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Fertilidad latente: lo que la geología no explica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8321040" y="173736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49640" y="22860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Rojo: </a:t>
            </a: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oro del que predice la roca (control oculto: estructural/hidrotermal).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</a:t>
            </a:r>
            <a:r>
              <a:rPr lang="en-US" sz="13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del esperado.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estructura prueba que el control espacial es real.</a:t>
            </a:r>
            <a:endParaRPr lang="en-US" sz="13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5AAA9F-D3D7-4E63-AE7B-3A8E29F24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551" y="1261872"/>
            <a:ext cx="371892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¿el modelo capturó la estructura?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 Moran de los residuos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0" y="23774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AF3E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(antes)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B54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01168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1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sin capturar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9496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858000" y="23774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1E2A3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BYM2 (después)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8580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capturada 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autocorrelación pasó de 0,30 a ≈ 0: el modelo quedó correctamente especificado.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937760"/>
            <a:ext cx="3657600" cy="3657600"/>
          </a:xfrm>
          <a:prstGeom prst="ellipse">
            <a:avLst/>
          </a:prstGeom>
          <a:solidFill>
            <a:srgbClr val="C8972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demuestra el avance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oro se agrupa en un cinturón NNE-SSW, con estructura multiescala robusta.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litología controla parcialmente (intrusivas y metamórficas favorables); las fallas, no.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de residuos justificó el modelo espacial (Moran 0,30 sin capturar).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BYM2 es casi totalmente espacial (φ = 0,99), produce el mapa y se valida (residuos ≈ 0).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prospectividad responde la pregunta y revela fertilidad latente no explicada.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023360" cy="4023360"/>
          </a:xfrm>
          <a:prstGeom prst="ellipse">
            <a:avLst/>
          </a:prstGeom>
          <a:solidFill>
            <a:srgbClr val="C8972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3471</Words>
  <Application>Microsoft Office PowerPoint</Application>
  <PresentationFormat>Panorámica</PresentationFormat>
  <Paragraphs>357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Prospectividad de Au — Avance</dc:title>
  <dc:subject>PptxGenJS Presentation</dc:subject>
  <dc:creator>Manuel Felipe</dc:creator>
  <cp:lastModifiedBy>Manuel Cadavid</cp:lastModifiedBy>
  <cp:revision>17</cp:revision>
  <dcterms:created xsi:type="dcterms:W3CDTF">2026-07-05T00:17:43Z</dcterms:created>
  <dcterms:modified xsi:type="dcterms:W3CDTF">2026-07-28T02:08:53Z</dcterms:modified>
</cp:coreProperties>
</file>